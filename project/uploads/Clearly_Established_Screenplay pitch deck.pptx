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quietly. A true story, adapted from the authors' own memoir. Let the room read the tagline before you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slowly. The reversal is not the twist — the erasure is. Let that last clause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spine: 1996 the night and the refusal; the polygraph he passed; the prosecutor's admission; conviction and the years served; the 2000 reversal and the deletion; the present-day fight. Keep it factual.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memoir adaptation written by the men who lived it. Position squarely in the wrongful-conviction &amp; social-justice memoir category. The authors co-direct.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structural conceit: two timelines, one doctrine. 1996/2000 (Michael) and 2024 (the boy with the flowers). 'Clearly established' is the legal hinge of qualified immunity.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 of the film and the deck. Opinion No. 25093, filed March 27, 2000. The confession stayed; the holding that it mattered was backspaced out. Let the redacted document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is the spine. Daniel carries his mentor Dan Stacey's mission into 2024. Reese is the audience's way in. The family is the moral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casting vision for the principal roles — illustrative targets, not signed attachments. Lead the talent value of the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ideas. Not a procedural — a film about who controls the record of the truth, and what innocence is worth once an institution can edit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Naturalistic, available-light. The formal device: Courier text on black that deletes itself, letter by letter. Body-cam grain (2024) against the single court record (1996). Drop reference frames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Martin brothers direct their own story. The promise: restraint over melodrama, no swelling score, trust the audience. The deletion device is the formal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by category and audience. The wrongful-conviction / social-justice title has a proven, awards-friendly, streaming-durable audience across film and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 appetite, fresh hook. Qualified immunity is a live national debate. South Carolina remains one of the last states with no wrongful-conviction compensation statute — the film's own climax is a call to pass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Contained, character-driven, financeable. Two timelines but limited locations, single state. Flag the SC rebate. Dollar figures are placeholders to finalize.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specific. Name what closes the package: financing, a production partner, the lead. Then state where development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theme and the title's promise. The words rebuild and stay. Then contact. Revelatory Productions, LLC.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0B08">
                  <a:alpha val="62000"/>
                </a:srgbClr>
              </a:gs>
              <a:gs pos="38000">
                <a:srgbClr val="0D0B08">
                  <a:alpha val="25000"/>
                </a:srgbClr>
              </a:gs>
              <a:gs pos="100000">
                <a:srgbClr val="0D0B08">
                  <a:alpha val="94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3996392" y="400050"/>
            <a:ext cx="3834408" cy="426720"/>
          </a:xfrm>
          <a:prstGeom prst="rect">
            <a:avLst/>
          </a:prstGeom>
          <a:ln w="7620">
            <a:solidFill>
              <a:srgbClr val="ECE4D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37362" y="483870"/>
            <a:ext cx="3667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21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KEY ART / FILM STILL ]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047750" y="857250"/>
            <a:ext cx="78355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FEATURE FILM · BASED ON A TRUE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302990" y="857250"/>
            <a:ext cx="10134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4521041"/>
            <a:ext cx="16678275" cy="2927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43"/>
              </a:lnSpc>
              <a:buNone/>
            </a:pPr>
            <a:r>
              <a:rPr lang="en-US" sz="11850" spc="-296" kern="0" dirty="0">
                <a:solidFill>
                  <a:srgbClr val="F1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Clearly Established</a:t>
            </a:r>
            <a:endParaRPr lang="en-US" sz="11850" dirty="0"/>
          </a:p>
        </p:txBody>
      </p:sp>
      <p:sp>
        <p:nvSpPr>
          <p:cNvPr id="9" name="Text 7"/>
          <p:cNvSpPr/>
          <p:nvPr/>
        </p:nvSpPr>
        <p:spPr>
          <a:xfrm>
            <a:off x="1047750" y="7753350"/>
            <a:ext cx="1157668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70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 of South Carolina overturned his conviction. It could not give him back the record of his innocence.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47750" y="9132570"/>
            <a:ext cx="4626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ADAPTED FROM THE MEMOIR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44490" y="9276398"/>
            <a:ext cx="400050" cy="9525"/>
          </a:xfrm>
          <a:prstGeom prst="rect">
            <a:avLst/>
          </a:prstGeom>
          <a:solidFill>
            <a:srgbClr val="ECE4D6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132570"/>
            <a:ext cx="5029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MICHAEL &amp; DAVID MARTIN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645688" y="1058227"/>
            <a:ext cx="139338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770073" y="91440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816543"/>
            <a:ext cx="15304770" cy="506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939"/>
              </a:lnSpc>
              <a:buNone/>
            </a:pPr>
            <a:r>
              <a:rPr lang="en-US" sz="4350" spc="-43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twenty-six, a gifted young salesman is convicted of a murder South Carolina's own prosecutor admitted, in open court, the State could not prove. Four and a half years later the state Supreme Court reverses — calling the conviction </a:t>
            </a:r>
            <a:pPr algn="l" indent="0" marL="0">
              <a:lnSpc>
                <a:spcPct val="114939"/>
              </a:lnSpc>
              <a:buNone/>
            </a:pPr>
            <a:r>
              <a:rPr lang="en-US" sz="4350" i="1" spc="-43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impossible </a:t>
            </a:r>
            <a:pPr algn="l" indent="0" marL="0">
              <a:lnSpc>
                <a:spcPct val="114939"/>
              </a:lnSpc>
              <a:buNone/>
            </a:pPr>
            <a:r>
              <a:rPr lang="en-US" sz="4350" spc="-43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then quietly </a:t>
            </a:r>
            <a:pPr algn="l" indent="0" marL="0">
              <a:lnSpc>
                <a:spcPct val="114939"/>
              </a:lnSpc>
              <a:buNone/>
            </a:pPr>
            <a:r>
              <a:rPr lang="en-US" sz="4350" spc="-43" kern="0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deletes that finding from its own opinion. </a:t>
            </a:r>
            <a:pPr algn="l" indent="0" marL="0">
              <a:lnSpc>
                <a:spcPct val="114939"/>
              </a:lnSpc>
              <a:buNone/>
            </a:pPr>
            <a:r>
              <a:rPr lang="en-US" sz="4350" spc="-43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Decades on, he sets out to read the erased words into a record no one can edit.</a:t>
            </a:r>
            <a:endParaRPr lang="en-US" sz="4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4968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SYNOPSIS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37961" y="1001077"/>
            <a:ext cx="13936861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52124"/>
            <a:ext cx="975979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500" spc="-67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life, taken on a theory.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047750" y="2637949"/>
            <a:ext cx="9138714" cy="1611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Pickens County, 1996. Michael Martin is twenty-six — a top salesman on his Cadillac floor, building a business at night. When his roommate returns one evening hinting at something terrible, Michael says the words that will define his life: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want to know anything about anything."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4421029"/>
            <a:ext cx="9138714" cy="2444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passes the State's own polygraph; no evidence ever places him at the scene. When the prosecutor concedes in open court he will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"probably never know which one of these defendants actually did the killing,"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Michael's attorney moves for a directed verdict of acquittal. Judge Floyd calls the case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"considerable heartburn"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then denies the motion and sends it to the jury anyway. Michael serves four and a half years.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47750" y="7036594"/>
            <a:ext cx="913871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2000 the South Carolina Supreme Court reverses, finding the conviction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impossible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State's own theory. Then it withdraws the opinion and deletes the paragraphs that said so. Years later — a mentor's dying instruction in hand — Michael moves to put those words somewhere no court can reach them.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953649" y="5348645"/>
            <a:ext cx="15240" cy="2024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32719" y="4172545"/>
            <a:ext cx="1164312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26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 STILL — MICHAEL, 1996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0619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SOURCE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12770" y="1001077"/>
            <a:ext cx="13562052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22797" y="1744028"/>
            <a:ext cx="5422106" cy="7229475"/>
          </a:xfrm>
          <a:prstGeom prst="rect">
            <a:avLst/>
          </a:prstGeom>
          <a:solidFill>
            <a:srgbClr val="1B1610"/>
          </a:solidFill>
          <a:ln w="7620">
            <a:solidFill>
              <a:srgbClr val="ECE4D6">
                <a:alpha val="12000"/>
              </a:srgbClr>
            </a:solidFill>
            <a:prstDash val="solid"/>
          </a:ln>
          <a:effectLst>
            <a:outerShdw sx="100000" sy="100000" kx="0" ky="0" algn="bl" rotWithShape="0" blurRad="666750" dist="323850" dir="5400000">
              <a:srgbClr val="000000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0417" y="1751648"/>
            <a:ext cx="5406866" cy="7214235"/>
          </a:xfrm>
          <a:prstGeom prst="rect">
            <a:avLst/>
          </a:prstGeom>
          <a:gradFill rotWithShape="1">
            <a:gsLst>
              <a:gs pos="0">
                <a:srgbClr val="0D0B08">
                  <a:alpha val="62000"/>
                </a:srgbClr>
              </a:gs>
              <a:gs pos="38000">
                <a:srgbClr val="0D0B08">
                  <a:alpha val="25000"/>
                </a:srgbClr>
              </a:gs>
              <a:gs pos="100000">
                <a:srgbClr val="0D0B08">
                  <a:alpha val="94000"/>
                </a:srgbClr>
              </a:gs>
            </a:gsLst>
            <a:lin ang="54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1430417" y="1751648"/>
            <a:ext cx="133350" cy="7214235"/>
          </a:xfrm>
          <a:prstGeom prst="rect">
            <a:avLst/>
          </a:prstGeom>
          <a:gradFill rotWithShape="1">
            <a:gsLst>
              <a:gs pos="0">
                <a:srgbClr val="000000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1642039" y="3171230"/>
            <a:ext cx="49836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561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MEMOIR · A TRUE STORY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604724" y="3769400"/>
            <a:ext cx="3058133" cy="123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4800" spc="-120" kern="0" dirty="0">
                <a:solidFill>
                  <a:srgbClr val="F1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Clearly Established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3181350" y="5287923"/>
            <a:ext cx="1905000" cy="152400"/>
          </a:xfrm>
          <a:prstGeom prst="rect">
            <a:avLst/>
          </a:prstGeom>
          <a:solidFill>
            <a:srgbClr val="B14A32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475" y="5535573"/>
            <a:ext cx="1428750" cy="152400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76600" y="5783223"/>
            <a:ext cx="1714500" cy="152400"/>
          </a:xfrm>
          <a:prstGeom prst="rect">
            <a:avLst/>
          </a:prstGeom>
          <a:solidFill>
            <a:srgbClr val="ECE4D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73680" y="6240423"/>
            <a:ext cx="2920341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629"/>
              </a:lnSpc>
              <a:buNone/>
            </a:pPr>
            <a:r>
              <a:rPr lang="en-US" sz="1650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record of his innocence, erased.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787464" y="7963853"/>
            <a:ext cx="4692772" cy="62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7115"/>
              </a:lnSpc>
              <a:buNone/>
            </a:pPr>
            <a:r>
              <a:rPr lang="en-US" sz="1350" spc="189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ANTHONY MARTIN &amp; DAVID ALEXANDER MARTIN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81950" y="3408997"/>
            <a:ext cx="101841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WRONGFUL-CONVICTION &amp; SOCIAL-JUSTICE MEMOIR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81950" y="3877628"/>
            <a:ext cx="1018413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4800" spc="-72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by the men who lived it.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981950" y="4784408"/>
            <a:ext cx="953604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Adapted from the memoir by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Anthony Martin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his brother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Alexander Martin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exoneree and the family member who never missed a visit. They co-wrote, co-produce, and co-direct the film.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7981950" y="6151245"/>
            <a:ext cx="953604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belongs on the shelf with the genre's defining first-person accounts of wrongful conviction — but its second act is something the category has never seen: not just a man cleared, but the official record of his innocence erased.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29923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ARCHITECTURE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237554" y="1001077"/>
            <a:ext cx="12437269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51"/>
              </a:lnSpc>
              <a:buNone/>
            </a:pPr>
            <a:r>
              <a:rPr lang="en-US" sz="4350" spc="-65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timelines. One doctrine.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50" y="2014657"/>
            <a:ext cx="12753975" cy="1225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title is a legal term. Under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qualified immunity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 right doesn't count unless a prior court has already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clearly established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it. The film braids two true stories thirty years apart to show the same machinery at work — protecting the institution, editing the record.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3469124"/>
            <a:ext cx="7905750" cy="6017776"/>
          </a:xfrm>
          <a:prstGeom prst="rect">
            <a:avLst/>
          </a:prstGeom>
          <a:ln w="7620">
            <a:solidFill>
              <a:srgbClr val="ECE4D6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6370" y="3838694"/>
            <a:ext cx="78413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 A · 1996–2000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6370" y="4265414"/>
            <a:ext cx="7841361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19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conviction &amp; the erasure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36370" y="4804053"/>
            <a:ext cx="73423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Martin, Pickens County. A murder the State could not place him at, a reversal that called it impossible — and an opinion quietly rewritten.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3469124"/>
            <a:ext cx="7905750" cy="6017776"/>
          </a:xfrm>
          <a:prstGeom prst="rect">
            <a:avLst/>
          </a:prstGeom>
          <a:ln w="7620">
            <a:solidFill>
              <a:srgbClr val="ECE4D6">
                <a:alpha val="1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3120" y="3838694"/>
            <a:ext cx="78413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 B · 2024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23120" y="4265414"/>
            <a:ext cx="7841361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19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machinery, today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723120" y="4804053"/>
            <a:ext cx="734236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twelve-year-old selling flowers in a parking lot. An officer with a record. A rookie who writes the truth — and a department that tries to delete 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2682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ERASURE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300294" y="1001077"/>
            <a:ext cx="13374529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-72000">
            <a:off x="1046559" y="3525202"/>
            <a:ext cx="7286627" cy="3667126"/>
          </a:xfrm>
          <a:prstGeom prst="rect">
            <a:avLst/>
          </a:prstGeom>
          <a:solidFill>
            <a:srgbClr val="CABD9F"/>
          </a:solidFill>
          <a:ln/>
          <a:effectLst>
            <a:outerShdw sx="100000" sy="100000" kx="0" ky="0" algn="bl" rotWithShape="0" blurRad="666750" dist="28575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8909" y="3877668"/>
            <a:ext cx="6681970" cy="39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5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OPINION NO. 25093 · FILED MARCH 27, 2000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27526" y="4289058"/>
            <a:ext cx="6689778" cy="75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115"/>
              </a:lnSpc>
              <a:buNone/>
            </a:pPr>
            <a:r>
              <a:rPr lang="en-US" sz="1350" dirty="0">
                <a:solidFill>
                  <a:srgbClr val="332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 will probably never know which one of these defendants actually did the killing."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44123" y="5081364"/>
            <a:ext cx="6482921" cy="145316"/>
          </a:xfrm>
          <a:prstGeom prst="rect">
            <a:avLst/>
          </a:prstGeom>
          <a:solidFill>
            <a:srgbClr val="33291A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48711" y="5305824"/>
            <a:ext cx="6226533" cy="282727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0" name="Shape 8"/>
          <p:cNvSpPr/>
          <p:nvPr/>
        </p:nvSpPr>
        <p:spPr>
          <a:xfrm>
            <a:off x="1454495" y="5592853"/>
            <a:ext cx="5707892" cy="271863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1" name="Shape 9"/>
          <p:cNvSpPr/>
          <p:nvPr/>
        </p:nvSpPr>
        <p:spPr>
          <a:xfrm>
            <a:off x="1460280" y="5862228"/>
            <a:ext cx="6032028" cy="278653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6065" y="6169623"/>
            <a:ext cx="4541097" cy="247422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3" name="Text 11"/>
          <p:cNvSpPr/>
          <p:nvPr/>
        </p:nvSpPr>
        <p:spPr>
          <a:xfrm>
            <a:off x="1473645" y="6490755"/>
            <a:ext cx="6681806" cy="387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8" kern="0" dirty="0">
                <a:solidFill>
                  <a:srgbClr val="8A2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THREE PARAGRAPHS — DELETED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9189244" y="2950607"/>
            <a:ext cx="8292536" cy="1548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74"/>
              </a:lnSpc>
              <a:buNone/>
            </a:pPr>
            <a:r>
              <a:rPr lang="en-US" sz="5400" spc="-8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said </a:t>
            </a:r>
            <a:pPr algn="l" indent="0" marL="0">
              <a:lnSpc>
                <a:spcPct val="90874"/>
              </a:lnSpc>
              <a:buNone/>
            </a:pPr>
            <a:r>
              <a:rPr lang="en-US" sz="5400" i="1" spc="-8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impossible. </a:t>
            </a:r>
            <a:pPr algn="l" indent="0" marL="0">
              <a:lnSpc>
                <a:spcPct val="90874"/>
              </a:lnSpc>
              <a:buNone/>
            </a:pPr>
            <a:r>
              <a:rPr lang="en-US" sz="5400" spc="-8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it took the word back.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189244" y="4746546"/>
            <a:ext cx="8292536" cy="1672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Court found the State's evidence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"did not place either defendant in the apartment"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held it </a:t>
            </a:r>
            <a:pPr algn="l" indent="0" marL="0">
              <a:lnSpc>
                <a:spcPct val="133224"/>
              </a:lnSpc>
              <a:buNone/>
            </a:pPr>
            <a:r>
              <a:rPr lang="en-US" sz="2025" i="1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"impossible to hold the individual defendants collectively guilty under the legal theories used by the State."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Those sentences required his freedom.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189244" y="6609636"/>
            <a:ext cx="8292536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Court withdrew its opinion and deleted those paragraphs. The prosecutor's confession stayed on the page. The finding that it mattered did not. </a:t>
            </a:r>
            <a:pPr algn="l" indent="0" marL="0">
              <a:lnSpc>
                <a:spcPct val="133224"/>
              </a:lnSpc>
              <a:buNone/>
            </a:pPr>
            <a:r>
              <a:rPr lang="en-US" sz="2025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was freed — and the reason was erased.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0619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12770" y="1001077"/>
            <a:ext cx="13562052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carries the story.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1047750" y="2146459"/>
            <a:ext cx="3833812" cy="51117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6915269"/>
            <a:ext cx="120777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JAMIE FOXX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7750" y="741056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7761089"/>
            <a:ext cx="421719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Anthony Martin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047750" y="8096369"/>
            <a:ext cx="3948827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64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Convicted at twenty-six, exonerated, then erased. A man whose composure — his mother's compass — becomes his weapon against the record.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67313" y="2146459"/>
            <a:ext cx="3833812" cy="51117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8282" y="6915269"/>
            <a:ext cx="211606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B. JORDAN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67313" y="741056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ADVOCATE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167313" y="7761089"/>
            <a:ext cx="421719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167313" y="8096369"/>
            <a:ext cx="3948827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64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young appellate lawyer carrying the dying instruction of his mentor, Dan Stacey — the attorney who won Michael's reversal: get the words into a record no one can edit.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86875" y="2146459"/>
            <a:ext cx="3833812" cy="51117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7845" y="6915269"/>
            <a:ext cx="136927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 LARSON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86875" y="741056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WITNESS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286875" y="7761089"/>
            <a:ext cx="421719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Officer Reese Calloway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286875" y="8096369"/>
            <a:ext cx="3948827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64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rookie cop, daughter of a cop, who watches a child brutalized in 2024 and writes the truthful report her department tries to bury. Our way into the architecture.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406438" y="2146459"/>
            <a:ext cx="3833812" cy="51117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47408" y="6915269"/>
            <a:ext cx="323636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 DAVIS · DELROY LINDO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06438" y="741056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406438" y="7761089"/>
            <a:ext cx="421719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Nita &amp; David Martin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06438" y="8096369"/>
            <a:ext cx="3948827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64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reverend mother and a decorated veteran father who never missed a visit in the years their son was held. The family whose faith outlasts the State's patience.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8868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CASTING VISION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62626" y="1001077"/>
            <a:ext cx="12812197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81601"/>
            <a:ext cx="4096703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faces we see.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1906250" y="1287780"/>
            <a:ext cx="54940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065"/>
              </a:lnSpc>
              <a:buNone/>
            </a:pPr>
            <a:r>
              <a:rPr lang="en-US" sz="1650" dirty="0">
                <a:solidFill>
                  <a:srgbClr val="7C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casting vision for the principal roles — the talent caliber this true story can attract.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2202180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9195" y="4457700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7750" y="492442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47750" y="5202555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Jamie Foxx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047750" y="549973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Michael Anthony Martin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62550" y="2202180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3995" y="4457700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62550" y="492442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ADVOCATE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62550" y="5202555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Michael B. Jordan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5162550" y="549973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Daniel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277350" y="2202180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8795" y="4457700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77350" y="492442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WITNESS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77350" y="5202555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 Larson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277350" y="549973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Officer Reese Calloway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3392150" y="2202180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23595" y="4457700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392150" y="492442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MOTHER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392150" y="5202555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Viola Davis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13392150" y="5499735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Rev. Dr. Nita Martin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47750" y="6044565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195" y="8300085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47750" y="876681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FATHER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47750" y="9044940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Delroy Lindo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47750" y="934212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SSgt. David Martin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162550" y="6044565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3995" y="8300085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162550" y="876681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BROTHER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62550" y="9044940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O'Shea Jackson Jr.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5162550" y="934212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David Alexander Martin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277350" y="6044565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8795" y="8300085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277350" y="876681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PROSECUTION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277350" y="9044940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Rafe Spall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9277350" y="934212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The Solicitor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3392150" y="6044565"/>
            <a:ext cx="3848100" cy="258889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23595" y="8300085"/>
            <a:ext cx="98155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HEADSHOT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3392150" y="876681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BENCH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3392150" y="9044940"/>
            <a:ext cx="423291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Lindsay Ayliffe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3392150" y="9342120"/>
            <a:ext cx="423291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1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Judge Floyd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2009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363034" y="1001077"/>
            <a:ext cx="14311789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it's really about.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047750" y="2356009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047750" y="3098959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19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controls the record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3656647"/>
            <a:ext cx="514083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1996 there was one copy and the accusers kept it. In 2024 every phone is a camera. The truth survives only where it can't be edited.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648450" y="2356009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648450" y="3098959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19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 of power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648450" y="3656647"/>
            <a:ext cx="514083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conspiracy, no shout — just an edit, after hours. The film studies how an institution protects itself without ever raising its voice.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249150" y="2356009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249150" y="3098959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19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being right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249150" y="3656647"/>
            <a:ext cx="514083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08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Vindication should be an ending. Here it is the start of a longer, lonelier fight — to be compensated, acknowledged, to see a wrongful-conviction compensation act enacted in South Carolina, and the truth of why put back into the record.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8868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 &amp; TEXTURE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62626" y="1001077"/>
            <a:ext cx="12812197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81651"/>
            <a:ext cx="5174837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look and the feel.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0001250" y="1287780"/>
            <a:ext cx="745617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light and patient frames. The recurring device: white Courier text on black that deletes itself, letter by letter. Body-cam grain of 2024 against the single, fragile court record of 1996.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602230"/>
            <a:ext cx="3905250" cy="6922770"/>
          </a:xfrm>
          <a:prstGeom prst="rect">
            <a:avLst/>
          </a:prstGeom>
          <a:solidFill>
            <a:srgbClr val="0F0C09"/>
          </a:solidFill>
          <a:ln w="7620">
            <a:solidFill>
              <a:srgbClr val="ECE4D6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6520" y="5899785"/>
            <a:ext cx="2890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clearly establi</a:t>
            </a:r>
            <a:pPr algn="l" indent="0" marL="0">
              <a:buNone/>
            </a:pPr>
            <a:r>
              <a:rPr lang="en-US" sz="1950" spc="78" kern="0" dirty="0">
                <a:solidFill>
                  <a:srgbClr val="3A34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7770" y="9163050"/>
            <a:ext cx="311181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TITLE-CARD DELETION MOTIF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143500" y="2602230"/>
            <a:ext cx="3905250" cy="336613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5606415"/>
            <a:ext cx="186709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COURTROOM, 1996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39250" y="2602230"/>
            <a:ext cx="3905250" cy="336613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9270" y="5606415"/>
            <a:ext cx="224061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BODY-CAM POV, 2024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3335000" y="2602230"/>
            <a:ext cx="3905250" cy="6922770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95020" y="9163050"/>
            <a:ext cx="273842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PRISON VISITATION ROOM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143500" y="6158865"/>
            <a:ext cx="3905250" cy="336613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9163050"/>
            <a:ext cx="2862977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FILES / THE RECORD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39250" y="6158865"/>
            <a:ext cx="3905250" cy="3366135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9270" y="9163050"/>
            <a:ext cx="2862977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PALMETTO ROSES, THE LOT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5053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DIRECTOR'S VISION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24958" y="1001077"/>
            <a:ext cx="12249865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1243965"/>
            <a:ext cx="6172200" cy="8229600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770" y="9073515"/>
            <a:ext cx="27592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95" kern="0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MARTIN BROTHERS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981950" y="3518892"/>
            <a:ext cx="9536049" cy="100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70"/>
              </a:lnSpc>
              <a:buNone/>
            </a:pPr>
            <a:r>
              <a:rPr lang="en-US" sz="2850" spc="-29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want to make a film that never raises its voice — because the injustice at its center never did either."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981950" y="4774525"/>
            <a:ext cx="9536049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stay close: on faces, on hands, on the small print where a life is decided. No swelling score telling you how to feel. The drama lives in the quiet — a sentence struck from a page, and the years a man spends putting it back. The deletion device returns throughout, until the final frame, where the words rebuild and stay.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981950" y="6460450"/>
            <a:ext cx="9536049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Told by the people who lived it — in the tradition of </a:t>
            </a:r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 </a:t>
            </a:r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Loving </a:t>
            </a:r>
            <a:pPr algn="l" indent="0" marL="0">
              <a:lnSpc>
                <a:spcPct val="134549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true, patient, and unafraid to trust its audience.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8868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VEIN OF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62626" y="1001077"/>
            <a:ext cx="12812197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film lives.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1047750" y="2165509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401729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47750" y="277891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3224689"/>
            <a:ext cx="394882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065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star: a true wrongful-conviction memoir told with dignity and zero melodrama.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67313" y="2165509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67313" y="2401729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Loving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167313" y="277891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167313" y="3224689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065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Quiet, interior, Oscar-nominated. Proof that restraint reads as prestige.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86875" y="2165509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286875" y="2401729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Waters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286875" y="277891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86875" y="3224689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065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 against an institution that edits the truth. The slow-burn we share.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406438" y="2165509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06438" y="2401729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They See Us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406438" y="2778919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406438" y="3224689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065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streaming proof point: true injustice, broad reach, awards-season weight.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550438" y="1001077"/>
            <a:ext cx="141243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proven appetite, a fresh wound.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047750" y="4766667"/>
            <a:ext cx="5546003" cy="385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30"/>
              </a:lnSpc>
              <a:buNone/>
            </a:pPr>
            <a:r>
              <a:rPr lang="en-US" sz="24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is here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5266492"/>
            <a:ext cx="51930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Wrongful-conviction stories — from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They See Us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have a durable, awards-friendly audience across theatrical and streaming.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2971" y="4766667"/>
            <a:ext cx="5546134" cy="385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30"/>
              </a:lnSpc>
              <a:buNone/>
            </a:pPr>
            <a:r>
              <a:rPr lang="en-US" sz="24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hook the genre hasn't seen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22971" y="5266492"/>
            <a:ext cx="519319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seen the wrongful conviction. We have not seen the court erase its own finding of innocence. The second act is the differentiator.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8310" y="4766667"/>
            <a:ext cx="5546134" cy="385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30"/>
              </a:lnSpc>
              <a:buNone/>
            </a:pPr>
            <a:r>
              <a:rPr lang="en-US" sz="24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national debate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98310" y="5266492"/>
            <a:ext cx="519319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Qualified immunity is contested in courts and legislatures right now — and South Carolina remains one of the last states with no wrongful-conviction compensation statute. The story is urgently current.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5053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&amp; FINANCING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24958" y="1001077"/>
            <a:ext cx="12249865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713797"/>
            <a:ext cx="75909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INDICATIVE BUDGET TIER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144328"/>
            <a:ext cx="759094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62"/>
              </a:lnSpc>
              <a:buNone/>
            </a:pPr>
            <a:r>
              <a:rPr lang="en-US" sz="8100" spc="-162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$X–$XM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047750" y="5306378"/>
            <a:ext cx="759094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 — TO FINALIZE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47750" y="5889307"/>
            <a:ext cx="710788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contained, performance-led drama: two timelines, limited locations, a single state, and one extraordinary true story carrying the film.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805863" y="35261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05863" y="3743325"/>
            <a:ext cx="1915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Contained scale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46230" y="37433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Courtroom, law office, home, prison visitation, Lowcountry exteriors — real locations, few builds.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8805863" y="44405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05863" y="4657725"/>
            <a:ext cx="2107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Cast-driven value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746230" y="46577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awards-caliber lead role anchors the budget and the campaign.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8805863" y="53549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05863" y="5572125"/>
            <a:ext cx="2999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Carolina incentive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746230" y="55721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Shoot where it happened — and capture the state's film rebate against spend.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8805863" y="71837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05863" y="62693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805863" y="6486525"/>
            <a:ext cx="21007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Festival-first path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746230" y="64865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premiere launch into an awards and streaming run.</a:t>
            </a:r>
            <a:endParaRPr lang="en-US" sz="17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550438" y="1001077"/>
            <a:ext cx="141243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169"/>
              </a:lnSpc>
              <a:buNone/>
            </a:pPr>
            <a:r>
              <a:rPr lang="en-US" sz="4050" spc="-61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047750" y="4738807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5432227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24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partner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47750" y="5949553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and/or a co-financier to close the production budget at the tier above.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6661" y="4738807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16661" y="5432227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24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home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6661" y="5949553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producer or studio/streamer partner to shepherd the film from package to premiere.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85571" y="4738807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185571" y="5432227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24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attachment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185571" y="5949553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awards-caliber actor for the title role to anchor financing and the campaign.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9189720"/>
            <a:ext cx="106382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06823" y="9333548"/>
            <a:ext cx="342900" cy="9525"/>
          </a:xfrm>
          <a:prstGeom prst="rect">
            <a:avLst/>
          </a:prstGeom>
          <a:solidFill>
            <a:srgbClr val="ECE4D6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21173" y="9189720"/>
            <a:ext cx="97768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SCREENPLAY · LIFE RIGHTS HELD BY THE AUTHORS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0B08">
                  <a:alpha val="55000"/>
                </a:srgbClr>
              </a:gs>
              <a:gs pos="45000">
                <a:srgbClr val="0D0B08">
                  <a:alpha val="30000"/>
                </a:srgbClr>
              </a:gs>
              <a:gs pos="100000">
                <a:srgbClr val="0D0B08">
                  <a:alpha val="95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9144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CLEARLY ESTABLISHED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177064"/>
            <a:ext cx="13735050" cy="2098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51"/>
              </a:lnSpc>
              <a:buNone/>
            </a:pPr>
            <a:r>
              <a:rPr lang="en-US" sz="7800" spc="-156" kern="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truth does not delete. It stays.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47750" y="5484972"/>
            <a:ext cx="10791825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40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are a witness now, too." A film about what it takes to put the truth somewhere no one can edit 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0" y="8778240"/>
            <a:ext cx="426669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 film · Based on a true story </a:t>
            </a:r>
            <a:pPr algn="l" indent="0" marL="0">
              <a:buNone/>
            </a:pPr>
            <a:r>
              <a:rPr lang="en-US" sz="2025" i="1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weapon formed against me shall prosper.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14133" y="8303895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806"/>
              </a:lnSpc>
              <a:buNone/>
            </a:pPr>
            <a:r>
              <a:rPr lang="en-US" sz="1650" spc="165" kern="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Revelatory Productions, LLC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114133" y="8660130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806"/>
              </a:lnSpc>
              <a:buNone/>
            </a:pPr>
            <a:r>
              <a:rPr lang="en-US" sz="1650" spc="165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Michael &amp; David Martin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114133" y="9016365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806"/>
              </a:lnSpc>
              <a:buNone/>
            </a:pPr>
            <a:r>
              <a:rPr lang="en-US" sz="1650" spc="165" kern="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email@example.com · (000) 000‑0000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2026-07-13T19:38:50Z</dcterms:created>
  <dcterms:modified xsi:type="dcterms:W3CDTF">2026-07-13T19:38:50Z</dcterms:modified>
</cp:coreProperties>
</file>