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1" d="100"/>
          <a:sy n="41" d="100"/>
        </p:scale>
        <p:origin x="46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619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quietly. This is a true story. Hold the title; let the room read the tagline before you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slowly. The reversal is not the twist — the erasure is. Let that last clause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conviction rested on a theory, not on physical proof placing him at the scene. Keep this factual and restrained.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state's highest court agreed — and said so unanimously. Beat of hope here, before slide 5 takes it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engine of the film. The findings of innocence were quietly removed from the official record. Let the redacted document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Roles, not real names, at this stage. Lead is the spine; the advocate is our way in; the Court is the antagonist as institution.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ideas. The film is not a procedural — it's about what innocence means once the institution controls the record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Naturalistic, available-light, Lowcountry. The visual language is documentary restraint against the warmth of the people. Drop reference frames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 this in your own voice. The promise: restraint over melodrama. Trust the audience. The document motif is the formal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by tone and audience, not box office. These films proved the appetite for restrained, true, justice-driven drama with awards and streaming legs.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case for timing without overstating. Appetite is proven; the hook — erasing the record — is fresh and disturbingly resonant.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Contained, character-driven, eminently financeable. Limited locations, single state. Flag the SC rebate as real upside. Dollar figures are placeholders to finalize.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and confident. Name exactly what closes the package: financing, a production partner, and the lead. Then state where development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the title and the theme. Leave them with the question, then your contact. Thank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92643eed-9b2f-4d02-98c6-c63e9fd5241c.claudeusercontent.com/cdn-cgi/l/email-protection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0B08">
                  <a:alpha val="62000"/>
                </a:srgbClr>
              </a:gs>
              <a:gs pos="38000">
                <a:srgbClr val="0D0B08">
                  <a:alpha val="25000"/>
                </a:srgbClr>
              </a:gs>
              <a:gs pos="100000">
                <a:srgbClr val="0D0B08">
                  <a:alpha val="94000"/>
                </a:srgbClr>
              </a:gs>
            </a:gsLst>
            <a:lin ang="540000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13996392" y="400050"/>
            <a:ext cx="3834408" cy="426720"/>
          </a:xfrm>
          <a:prstGeom prst="rect">
            <a:avLst/>
          </a:prstGeom>
          <a:ln w="7620">
            <a:solidFill>
              <a:srgbClr val="ECE4D6">
                <a:alpha val="16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37362" y="483870"/>
            <a:ext cx="3667500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221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KEY ART / FILM STILL ]</a:t>
            </a:r>
            <a:endParaRPr lang="en-US" sz="1575" dirty="0"/>
          </a:p>
        </p:txBody>
      </p:sp>
      <p:sp>
        <p:nvSpPr>
          <p:cNvPr id="6" name="Text 4"/>
          <p:cNvSpPr/>
          <p:nvPr/>
        </p:nvSpPr>
        <p:spPr>
          <a:xfrm>
            <a:off x="1047750" y="857250"/>
            <a:ext cx="783559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FEATURE FILM · BASED ON A TRUE STORY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302990" y="857250"/>
            <a:ext cx="101346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47750" y="4521041"/>
            <a:ext cx="16678275" cy="29275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850" kern="0" spc="-296" dirty="0">
                <a:solidFill>
                  <a:srgbClr val="F1EA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Clearly Established</a:t>
            </a:r>
            <a:endParaRPr lang="en-US" sz="11850" dirty="0"/>
          </a:p>
        </p:txBody>
      </p:sp>
      <p:sp>
        <p:nvSpPr>
          <p:cNvPr id="9" name="Text 7"/>
          <p:cNvSpPr/>
          <p:nvPr/>
        </p:nvSpPr>
        <p:spPr>
          <a:xfrm>
            <a:off x="1047750" y="7753350"/>
            <a:ext cx="11576685" cy="998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State of South Carolina overturned his conviction. It could not give him back the record of his innocence.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047750" y="9132570"/>
            <a:ext cx="201168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PITCH DECK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067050" y="9276398"/>
            <a:ext cx="400050" cy="9525"/>
          </a:xfrm>
          <a:prstGeom prst="rect">
            <a:avLst/>
          </a:prstGeom>
          <a:solidFill>
            <a:srgbClr val="ECE4D6">
              <a:alpha val="2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9132570"/>
            <a:ext cx="4626864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INSPIRED BY TRUE EVENTS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144340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LOGLINE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645688" y="1058227"/>
            <a:ext cx="139338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770073" y="91440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440668"/>
            <a:ext cx="14716125" cy="38171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4650" kern="0" spc="-46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true story of a man South Carolina convicted of a murder it could not place him at — whose conviction the state's own Supreme Court reversed, </a:t>
            </a:r>
            <a:r>
              <a:rPr lang="en-US" sz="4650" i="1" kern="0" spc="-46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unanimously </a:t>
            </a:r>
            <a:r>
              <a:rPr lang="en-US" sz="4650" kern="0" spc="-46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who then watched that same court quietly </a:t>
            </a:r>
            <a:r>
              <a:rPr lang="en-US" sz="4650" kern="0" spc="-46" dirty="0">
                <a:solidFill>
                  <a:srgbClr val="D9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 the findings of his innocence </a:t>
            </a:r>
            <a:r>
              <a:rPr lang="en-US" sz="4650" kern="0" spc="-46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official record.</a:t>
            </a:r>
            <a:endParaRPr lang="en-US" sz="4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64968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CASE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37961" y="1001077"/>
            <a:ext cx="13936861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214688"/>
            <a:ext cx="7946708" cy="1491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5400" kern="0" spc="-81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murder he was never placed at.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047750" y="5011341"/>
            <a:ext cx="7946708" cy="138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2000"/>
              </a:lnSpc>
              <a:buNone/>
            </a:pPr>
            <a:r>
              <a:rPr lang="en-US" sz="23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Carolina charged him with murder and tried the case on a theory — not on evidence that put him at the scene.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047750" y="6605231"/>
            <a:ext cx="7946708" cy="935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2000"/>
              </a:lnSpc>
              <a:buNone/>
            </a:pPr>
            <a:r>
              <a:rPr lang="en-US" sz="23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was convicted anyway, and sentenced to answer, for the rest of his life, for a crime the proof never tied to him.</a:t>
            </a:r>
            <a:endParaRPr lang="en-US" sz="2325" dirty="0"/>
          </a:p>
        </p:txBody>
      </p:sp>
      <p:sp>
        <p:nvSpPr>
          <p:cNvPr id="8" name="Shape 6"/>
          <p:cNvSpPr/>
          <p:nvPr/>
        </p:nvSpPr>
        <p:spPr>
          <a:xfrm>
            <a:off x="13375006" y="5349240"/>
            <a:ext cx="15240" cy="19050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54075" y="4171950"/>
            <a:ext cx="1436370" cy="1074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 STILL — DEFENDANT, TRIAL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47439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REVERSAL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487698" y="1001077"/>
            <a:ext cx="1318712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2696528"/>
            <a:ext cx="1098804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550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 on, the Supreme Court of South Carolina reviewed what the trial had refused to see — and put it in writing.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047750" y="3934778"/>
            <a:ext cx="16678275" cy="278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250" kern="0" spc="-2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Reversed. </a:t>
            </a:r>
            <a:r>
              <a:rPr lang="en-US" sz="11250" kern="0" spc="-225" dirty="0">
                <a:solidFill>
                  <a:srgbClr val="D9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Unanimously.</a:t>
            </a:r>
            <a:endParaRPr lang="en-US" sz="11250" dirty="0"/>
          </a:p>
        </p:txBody>
      </p:sp>
      <p:sp>
        <p:nvSpPr>
          <p:cNvPr id="7" name="Text 5"/>
          <p:cNvSpPr/>
          <p:nvPr/>
        </p:nvSpPr>
        <p:spPr>
          <a:xfrm>
            <a:off x="1047750" y="7058978"/>
            <a:ext cx="1020318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state's highest court found the conviction could not stand. For a moment, the record told the truth.</a:t>
            </a:r>
            <a:endParaRPr lang="en-US" sz="23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26824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ERASURE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300294" y="1001077"/>
            <a:ext cx="13374529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 rot="-72000">
            <a:off x="1046560" y="3425190"/>
            <a:ext cx="7286625" cy="3867150"/>
          </a:xfrm>
          <a:prstGeom prst="rect">
            <a:avLst/>
          </a:prstGeom>
          <a:solidFill>
            <a:srgbClr val="CABD9F"/>
          </a:solidFill>
          <a:ln/>
          <a:effectLst>
            <a:outerShdw blurRad="666750" dist="28575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436279" y="3798075"/>
            <a:ext cx="6643064" cy="40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228" dirty="0">
                <a:solidFill>
                  <a:srgbClr val="6B5E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OPINION OF THE COURT — FILED</a:t>
            </a:r>
            <a:endParaRPr lang="en-US" sz="1425" dirty="0"/>
          </a:p>
        </p:txBody>
      </p:sp>
      <p:sp>
        <p:nvSpPr>
          <p:cNvPr id="7" name="Shape 5"/>
          <p:cNvSpPr/>
          <p:nvPr/>
        </p:nvSpPr>
        <p:spPr>
          <a:xfrm>
            <a:off x="1446013" y="4268194"/>
            <a:ext cx="6188991" cy="234347"/>
          </a:xfrm>
          <a:prstGeom prst="rect">
            <a:avLst/>
          </a:prstGeom>
          <a:solidFill>
            <a:srgbClr val="5D513C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51200" y="4526589"/>
            <a:ext cx="5673445" cy="223548"/>
          </a:xfrm>
          <a:prstGeom prst="rect">
            <a:avLst/>
          </a:prstGeom>
          <a:solidFill>
            <a:srgbClr val="5D513C">
              <a:alpha val="5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56386" y="4787684"/>
            <a:ext cx="5030378" cy="276709"/>
          </a:xfrm>
          <a:prstGeom prst="rect">
            <a:avLst/>
          </a:prstGeom>
          <a:solidFill>
            <a:srgbClr val="0D0B08"/>
          </a:solidFill>
          <a:ln/>
        </p:spPr>
      </p:sp>
      <p:sp>
        <p:nvSpPr>
          <p:cNvPr id="10" name="Shape 8"/>
          <p:cNvSpPr/>
          <p:nvPr/>
        </p:nvSpPr>
        <p:spPr>
          <a:xfrm>
            <a:off x="1462969" y="5085740"/>
            <a:ext cx="5803758" cy="292909"/>
          </a:xfrm>
          <a:prstGeom prst="rect">
            <a:avLst/>
          </a:prstGeom>
          <a:solidFill>
            <a:srgbClr val="0D0B08"/>
          </a:solidFill>
          <a:ln/>
        </p:spPr>
      </p:sp>
      <p:sp>
        <p:nvSpPr>
          <p:cNvPr id="11" name="Shape 9"/>
          <p:cNvSpPr/>
          <p:nvPr/>
        </p:nvSpPr>
        <p:spPr>
          <a:xfrm>
            <a:off x="1469552" y="5426995"/>
            <a:ext cx="4513435" cy="199249"/>
          </a:xfrm>
          <a:prstGeom prst="rect">
            <a:avLst/>
          </a:prstGeom>
          <a:solidFill>
            <a:srgbClr val="5D513C">
              <a:alpha val="5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74738" y="5655693"/>
            <a:ext cx="5417008" cy="284807"/>
          </a:xfrm>
          <a:prstGeom prst="rect">
            <a:avLst/>
          </a:prstGeom>
          <a:solidFill>
            <a:srgbClr val="0D0B08"/>
          </a:solidFill>
          <a:ln/>
        </p:spPr>
      </p:sp>
      <p:sp>
        <p:nvSpPr>
          <p:cNvPr id="13" name="Shape 11"/>
          <p:cNvSpPr/>
          <p:nvPr/>
        </p:nvSpPr>
        <p:spPr>
          <a:xfrm>
            <a:off x="1481321" y="5959150"/>
            <a:ext cx="5931158" cy="228946"/>
          </a:xfrm>
          <a:prstGeom prst="rect">
            <a:avLst/>
          </a:prstGeom>
          <a:solidFill>
            <a:srgbClr val="5D513C">
              <a:alpha val="5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486507" y="6249942"/>
            <a:ext cx="3868973" cy="185750"/>
          </a:xfrm>
          <a:prstGeom prst="rect">
            <a:avLst/>
          </a:prstGeom>
          <a:solidFill>
            <a:srgbClr val="5D513C">
              <a:alpha val="5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493888" y="6548292"/>
            <a:ext cx="6643065" cy="40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425" kern="0" spc="171" dirty="0">
                <a:solidFill>
                  <a:srgbClr val="8A2F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 OF INNOCENCE — REMOVED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9189244" y="3198257"/>
            <a:ext cx="8292536" cy="1543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00" kern="0" spc="-8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findings vanished.</a:t>
            </a:r>
            <a:endParaRPr lang="en-US" sz="5700" dirty="0"/>
          </a:p>
        </p:txBody>
      </p:sp>
      <p:sp>
        <p:nvSpPr>
          <p:cNvPr id="17" name="Text 15"/>
          <p:cNvSpPr/>
          <p:nvPr/>
        </p:nvSpPr>
        <p:spPr>
          <a:xfrm>
            <a:off x="9189244" y="5027772"/>
            <a:ext cx="8292536" cy="138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2000"/>
              </a:lnSpc>
              <a:buNone/>
            </a:pPr>
            <a:r>
              <a:rPr lang="en-US" sz="23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Quietly, the same court revised its own opinion — striking the language that had established his innocence from the official record.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9189244" y="6621661"/>
            <a:ext cx="8292536" cy="9355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2000"/>
              </a:lnSpc>
              <a:buNone/>
            </a:pPr>
            <a:r>
              <a:rPr lang="en-US" sz="23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 was free. But the page that proved why no longer existed. </a:t>
            </a:r>
            <a:r>
              <a:rPr lang="en-US" sz="2325" dirty="0">
                <a:solidFill>
                  <a:srgbClr val="D9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clear a name the record won't keep?</a:t>
            </a:r>
            <a:endParaRPr lang="en-US" sz="23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061972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PEOPLE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12770" y="1001077"/>
            <a:ext cx="13562052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kern="0" spc="-6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carries the story.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047750" y="2243257"/>
            <a:ext cx="3805237" cy="5073611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6935867"/>
            <a:ext cx="164588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CASTING TBD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47750" y="7488317"/>
            <a:ext cx="41857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LEAD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7838837"/>
            <a:ext cx="41857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Convicted Man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047750" y="8174117"/>
            <a:ext cx="391939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Convicted, exonerated, then erased. He spends the film fighting to be believed by the record itself.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176838" y="2243257"/>
            <a:ext cx="3805237" cy="5073611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17807" y="6935867"/>
            <a:ext cx="164588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CASTING TBD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5176838" y="7488317"/>
            <a:ext cx="41857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ADVOCATE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5176838" y="7838837"/>
            <a:ext cx="41857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Attorney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5176838" y="8174117"/>
            <a:ext cx="391939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lawyer who notices what was struck — and refuses to let the deletion stand unchallenged.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305925" y="2243257"/>
            <a:ext cx="3805237" cy="5073611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6895" y="6935867"/>
            <a:ext cx="164588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CASTING TBD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9305925" y="7488317"/>
            <a:ext cx="41857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INSTITUTION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305925" y="7838837"/>
            <a:ext cx="41857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Court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305925" y="8174117"/>
            <a:ext cx="391939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villain in a robe — a system that would rather revise the page than admit the page was right.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3435013" y="2243257"/>
            <a:ext cx="3805237" cy="5073611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575983" y="6935867"/>
            <a:ext cx="164588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CASTING TBD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13435013" y="7488317"/>
            <a:ext cx="4185761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231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FAMILY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3435013" y="7838837"/>
            <a:ext cx="418576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Those Who Waited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3435013" y="8174117"/>
            <a:ext cx="391939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5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 who lived the years he lost, and who measure freedom differently than the law does.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20098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363034" y="1001077"/>
            <a:ext cx="14311789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kern="0" spc="-6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it's really about.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47750" y="2395657"/>
            <a:ext cx="54902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047750" y="3138607"/>
            <a:ext cx="5490210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Innocence vs. the record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047750" y="3696295"/>
            <a:ext cx="514083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man can be free and still not be cleared. The truth and the paperwork are two different verdicts.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6648450" y="2395657"/>
            <a:ext cx="54902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450" dirty="0"/>
          </a:p>
        </p:txBody>
      </p:sp>
      <p:sp>
        <p:nvSpPr>
          <p:cNvPr id="10" name="Text 8"/>
          <p:cNvSpPr/>
          <p:nvPr/>
        </p:nvSpPr>
        <p:spPr>
          <a:xfrm>
            <a:off x="6648450" y="3138607"/>
            <a:ext cx="5490210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quiet of power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648450" y="3696295"/>
            <a:ext cx="514083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conspiracy, no shout — just an edit. The film studies how institutions protect themselves without ever raising their voice.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2249150" y="2395657"/>
            <a:ext cx="549021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45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12249150" y="3138607"/>
            <a:ext cx="5490210" cy="4433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8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being right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249150" y="3696295"/>
            <a:ext cx="5140833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Vindication should be an ending. Here it's the beginning of a longer, lonelier fight to make it count.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88681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 &amp; TEXTURE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862626" y="1001077"/>
            <a:ext cx="12812197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784866"/>
            <a:ext cx="5558052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kern="0" spc="-6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look and the feel.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763250" y="1287780"/>
            <a:ext cx="6671310" cy="1109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Available light, long lenses, patient frames. The warmth of Lowcountry South Carolina set against the cold geometry of paper and procedure.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47750" y="2683193"/>
            <a:ext cx="3890962" cy="6841807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770" y="9124950"/>
            <a:ext cx="2543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FACES IN CLOSE-UP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5148263" y="2683193"/>
            <a:ext cx="3890962" cy="3316129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8282" y="5599272"/>
            <a:ext cx="3890165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COURTROOM, AVAILABLE LIGHT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248775" y="2683193"/>
            <a:ext cx="3890962" cy="3316129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08795" y="5599272"/>
            <a:ext cx="403973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ARCHIVAL PAPER / CASE FILES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13349288" y="2683193"/>
            <a:ext cx="3890962" cy="6841807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09308" y="9124950"/>
            <a:ext cx="299237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LOWCOUNTRY EXTERIORS</a:t>
            </a:r>
            <a:endParaRPr lang="en-US" sz="1575" dirty="0"/>
          </a:p>
        </p:txBody>
      </p:sp>
      <p:sp>
        <p:nvSpPr>
          <p:cNvPr id="15" name="Shape 13"/>
          <p:cNvSpPr/>
          <p:nvPr/>
        </p:nvSpPr>
        <p:spPr>
          <a:xfrm>
            <a:off x="5148263" y="6208872"/>
            <a:ext cx="3890962" cy="3316129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8282" y="9124950"/>
            <a:ext cx="3590901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HANDS, DOCUMENTS, DETAIL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9248775" y="6208872"/>
            <a:ext cx="3890962" cy="3316129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8795" y="9124950"/>
            <a:ext cx="299237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HOME, THE YEARS LOST</a:t>
            </a:r>
            <a:endParaRPr lang="en-US" sz="15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350537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DIRECTOR'S VISION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424958" y="1001077"/>
            <a:ext cx="12249865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1243965"/>
            <a:ext cx="6172200" cy="8229600"/>
          </a:xfrm>
          <a:prstGeom prst="rect">
            <a:avLst/>
          </a:prstGeom>
          <a:solidFill>
            <a:srgbClr val="1F1A14"/>
          </a:solidFill>
          <a:ln w="7620">
            <a:solidFill>
              <a:srgbClr val="ECE4D6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07770" y="9073515"/>
            <a:ext cx="2543544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26" dirty="0">
                <a:solidFill>
                  <a:srgbClr val="8A81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 PORTRAIT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7981950" y="3404711"/>
            <a:ext cx="9536049" cy="1059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3000" kern="0" spc="-3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want to make a film that never raises its voice — because the injustice at its center never did either."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981950" y="4711541"/>
            <a:ext cx="9536049" cy="16325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stay close: on faces, on hands, on the small print where a life is decided. No swelling score telling you how to feel, no courtroom theatrics. The drama is in the quiet — a sentence struck from a page, and the years a man spends trying to put it back.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7981950" y="6515576"/>
            <a:ext cx="9536049" cy="8353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tradition of </a:t>
            </a: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Mercy </a:t>
            </a:r>
            <a:r>
              <a:rPr lang="en-US" sz="20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</a:t>
            </a:r>
            <a:r>
              <a:rPr lang="en-US" sz="202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Loving </a:t>
            </a:r>
            <a:r>
              <a:rPr lang="en-US" sz="20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true, patient, and unafraid to trust its audience.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88681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THE VEIN OF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862626" y="1001077"/>
            <a:ext cx="12812197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kern="0" spc="-6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film lives.</a:t>
            </a:r>
            <a:endParaRPr lang="en-US" sz="4350" dirty="0"/>
          </a:p>
        </p:txBody>
      </p:sp>
      <p:sp>
        <p:nvSpPr>
          <p:cNvPr id="6" name="Shape 4"/>
          <p:cNvSpPr/>
          <p:nvPr/>
        </p:nvSpPr>
        <p:spPr>
          <a:xfrm>
            <a:off x="1047750" y="2243257"/>
            <a:ext cx="3833812" cy="9525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479477"/>
            <a:ext cx="4217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Mercy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047750" y="2856667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98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47750" y="3302437"/>
            <a:ext cx="3948827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north star: a true wrongful-conviction story told with dignity and zero melodrama.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5167313" y="2243257"/>
            <a:ext cx="3833812" cy="9525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67313" y="2479477"/>
            <a:ext cx="4217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Loving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5167313" y="2856667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98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2016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167313" y="3302437"/>
            <a:ext cx="394882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Quiet, interior, Oscar-nominated. Proof that restraint reads as prestige.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286875" y="2243257"/>
            <a:ext cx="3833812" cy="9525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286875" y="2479477"/>
            <a:ext cx="4217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 Waters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286875" y="2856667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98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286875" y="3302437"/>
            <a:ext cx="394882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person against an institution that edits the truth. The slow-burn we share.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3406438" y="2243257"/>
            <a:ext cx="3833812" cy="9525"/>
          </a:xfrm>
          <a:prstGeom prst="rect">
            <a:avLst/>
          </a:prstGeom>
          <a:solidFill>
            <a:srgbClr val="ECE4D6">
              <a:alpha val="18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3406438" y="2479477"/>
            <a:ext cx="421719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They See Us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3406438" y="2856667"/>
            <a:ext cx="4217194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98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2019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3406438" y="3302437"/>
            <a:ext cx="394882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streaming proof point: true injustice, broad reach, awards-season weight.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44340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550438" y="1001077"/>
            <a:ext cx="141243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kern="0" spc="-6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proven appetite, a fresh wound.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47750" y="4937522"/>
            <a:ext cx="551810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audience is here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47750" y="5459016"/>
            <a:ext cx="5166954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Innocence and accountability stories — from </a:t>
            </a:r>
            <a:r>
              <a:rPr lang="en-US" sz="187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Mercy </a:t>
            </a: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</a:t>
            </a:r>
            <a:r>
              <a:rPr lang="en-US" sz="1875" dirty="0">
                <a:solidFill>
                  <a:srgbClr val="C7BF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They See Us </a:t>
            </a: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have a durable, awards-friendly audience across theatrical and streaming.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6635711" y="4937522"/>
            <a:ext cx="551810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hook that's new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635711" y="5459016"/>
            <a:ext cx="5166954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seen the wrongful conviction. We have not seen the court erase its own finding of innocence. The story's second act is its differentiator.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2223671" y="4937522"/>
            <a:ext cx="5518107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255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trust-in-institutions moment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223671" y="5459016"/>
            <a:ext cx="5166954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7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Whether the record can be trusted is the question of the decade. This true story makes it personal, specific, and impossible to look away from.</a:t>
            </a:r>
            <a:endParaRPr lang="en-US" sz="18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350537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 &amp; FINANCING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424958" y="1001077"/>
            <a:ext cx="12249865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899535"/>
            <a:ext cx="7590949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9A93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INDICATIVE BUDGET TIER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47750" y="4330065"/>
            <a:ext cx="759094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100" kern="0" spc="-162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$X–$XM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1047750" y="5492115"/>
            <a:ext cx="7590949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75" kern="0" spc="158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PLACEHOLDER — TO FINALIZE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47750" y="6075045"/>
            <a:ext cx="710788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contained, performance-led drama: limited locations, a single state, and one extraordinary true story carrying the film.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8805863" y="35261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805863" y="3743325"/>
            <a:ext cx="19158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Contained scale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746230" y="3743325"/>
            <a:ext cx="54940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Courtroom, law office, home, Lowcountry exteriors — few builds, real locations.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8805863" y="44405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805863" y="4657725"/>
            <a:ext cx="210781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Cast-driven value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1746230" y="4657725"/>
            <a:ext cx="54940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Awards-caliber lead role anchors the budget and the campaign.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8805863" y="53549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805863" y="5572125"/>
            <a:ext cx="29993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South Carolina incentive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1746230" y="5572125"/>
            <a:ext cx="54940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Shoot where it happened — and capture the state's film rebate against spend.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8805863" y="71837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805863" y="6269355"/>
            <a:ext cx="8434388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805863" y="6486525"/>
            <a:ext cx="21007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Festival-first path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1746230" y="6486525"/>
            <a:ext cx="5494020" cy="525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7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a premiere launch into an awards and streaming run.</a:t>
            </a:r>
            <a:endParaRPr lang="en-US" sz="17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443407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550438" y="1001077"/>
            <a:ext cx="14124384" cy="9525"/>
          </a:xfrm>
          <a:prstGeom prst="rect">
            <a:avLst/>
          </a:prstGeom>
          <a:solidFill>
            <a:srgbClr val="ECE4D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6865323" y="857250"/>
            <a:ext cx="45112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6F6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1287780"/>
            <a:ext cx="17811750" cy="612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350" kern="0" spc="-65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looking for.</a:t>
            </a:r>
            <a:endParaRPr lang="en-US" sz="4350" dirty="0"/>
          </a:p>
        </p:txBody>
      </p:sp>
      <p:sp>
        <p:nvSpPr>
          <p:cNvPr id="6" name="Text 4"/>
          <p:cNvSpPr/>
          <p:nvPr/>
        </p:nvSpPr>
        <p:spPr>
          <a:xfrm>
            <a:off x="1047750" y="4777740"/>
            <a:ext cx="5560017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1047750" y="5471160"/>
            <a:ext cx="5560017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Financing partner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47750" y="5988487"/>
            <a:ext cx="5206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Equity and/or a co-financier to close the production budget at the tier above.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6661" y="4777740"/>
            <a:ext cx="5560017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616661" y="5471160"/>
            <a:ext cx="5560017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home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616661" y="5988487"/>
            <a:ext cx="5206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producer or studio/streamer partner to shepherd the film from package to premiere.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85571" y="4777740"/>
            <a:ext cx="5560017" cy="579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12185571" y="5471160"/>
            <a:ext cx="5560017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700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attachment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185571" y="5988487"/>
            <a:ext cx="520619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awards-caliber actor for the title role to anchor financing and the campaign.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47750" y="9189720"/>
            <a:ext cx="1063823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206823" y="9333548"/>
            <a:ext cx="342900" cy="9525"/>
          </a:xfrm>
          <a:prstGeom prst="rect">
            <a:avLst/>
          </a:prstGeom>
          <a:solidFill>
            <a:srgbClr val="ECE4D6">
              <a:alpha val="22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721173" y="9189720"/>
            <a:ext cx="7242048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16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 &amp; LIFE-RIGHTS STATUS — TO CONFIRM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1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161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D0B08">
                  <a:alpha val="55000"/>
                </a:srgbClr>
              </a:gs>
              <a:gs pos="45000">
                <a:srgbClr val="0D0B08">
                  <a:alpha val="30000"/>
                </a:srgbClr>
              </a:gs>
              <a:gs pos="100000">
                <a:srgbClr val="0D0B08">
                  <a:alpha val="9500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047750" y="914400"/>
            <a:ext cx="1781175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96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CLEARLY ESTABLISHED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47750" y="3727609"/>
            <a:ext cx="13735050" cy="2098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800" kern="0" spc="-156" dirty="0">
                <a:solidFill>
                  <a:srgbClr val="ECE4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clear a name the record refuses to keep?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1047750" y="9083040"/>
            <a:ext cx="4555748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9A93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feature film · Based on a true story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2114133" y="8303895"/>
            <a:ext cx="5126117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650" kern="0" spc="165" dirty="0">
                <a:solidFill>
                  <a:srgbClr val="B14A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Contact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2114133" y="8660130"/>
            <a:ext cx="5126117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650" kern="0" spc="165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Producer Name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114133" y="9016365"/>
            <a:ext cx="5126117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r>
              <a:rPr lang="en-US" sz="1650" u="sng" kern="0" spc="165" dirty="0">
                <a:solidFill>
                  <a:srgbClr val="000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[email protected] </a:t>
            </a:r>
            <a:r>
              <a:rPr lang="en-US" sz="1650" kern="0" spc="165" dirty="0">
                <a:solidFill>
                  <a:srgbClr val="7C73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(000) 000‑0000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1403</Words>
  <Application>Microsoft Office PowerPoint</Application>
  <PresentationFormat>Custom</PresentationFormat>
  <Paragraphs>161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Martin</cp:lastModifiedBy>
  <cp:revision>1</cp:revision>
  <dcterms:created xsi:type="dcterms:W3CDTF">2026-06-19T04:57:03Z</dcterms:created>
  <dcterms:modified xsi:type="dcterms:W3CDTF">2026-09-03T14:04:21Z</dcterms:modified>
</cp:coreProperties>
</file>